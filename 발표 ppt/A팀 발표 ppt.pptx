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5" r:id="rId3"/>
    <p:sldId id="267" r:id="rId4"/>
    <p:sldId id="266" r:id="rId5"/>
    <p:sldId id="275" r:id="rId6"/>
    <p:sldId id="273" r:id="rId7"/>
    <p:sldId id="274" r:id="rId8"/>
    <p:sldId id="269" r:id="rId9"/>
    <p:sldId id="270" r:id="rId10"/>
    <p:sldId id="271" r:id="rId11"/>
    <p:sldId id="272" r:id="rId12"/>
    <p:sldId id="277" r:id="rId13"/>
    <p:sldId id="27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491F"/>
    <a:srgbClr val="F8CCAE"/>
    <a:srgbClr val="F6C09C"/>
    <a:srgbClr val="D1B3E7"/>
    <a:srgbClr val="E2D0F0"/>
    <a:srgbClr val="DEC8EE"/>
    <a:srgbClr val="598739"/>
    <a:srgbClr val="2C431D"/>
    <a:srgbClr val="385624"/>
    <a:srgbClr val="4E76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372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CD9B-034B-4FE2-B6EF-D1C0B18C040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A782-E482-443A-9C1B-B5A166C6AE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15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CD9B-034B-4FE2-B6EF-D1C0B18C040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A782-E482-443A-9C1B-B5A166C6AE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843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CD9B-034B-4FE2-B6EF-D1C0B18C040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A782-E482-443A-9C1B-B5A166C6AE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8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CD9B-034B-4FE2-B6EF-D1C0B18C040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A782-E482-443A-9C1B-B5A166C6AE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808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CD9B-034B-4FE2-B6EF-D1C0B18C040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A782-E482-443A-9C1B-B5A166C6AE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926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CD9B-034B-4FE2-B6EF-D1C0B18C040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A782-E482-443A-9C1B-B5A166C6AE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675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CD9B-034B-4FE2-B6EF-D1C0B18C040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A782-E482-443A-9C1B-B5A166C6AE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027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CD9B-034B-4FE2-B6EF-D1C0B18C040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A782-E482-443A-9C1B-B5A166C6AE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76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CD9B-034B-4FE2-B6EF-D1C0B18C040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A782-E482-443A-9C1B-B5A166C6AE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618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CD9B-034B-4FE2-B6EF-D1C0B18C040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A782-E482-443A-9C1B-B5A166C6AE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50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CD9B-034B-4FE2-B6EF-D1C0B18C040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EA782-E482-443A-9C1B-B5A166C6AE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59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CD9B-034B-4FE2-B6EF-D1C0B18C040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EA782-E482-443A-9C1B-B5A166C6AE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482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11" Type="http://schemas.openxmlformats.org/officeDocument/2006/relationships/image" Target="../media/image19.jpeg"/><Relationship Id="rId5" Type="http://schemas.openxmlformats.org/officeDocument/2006/relationships/image" Target="../media/image13.png"/><Relationship Id="rId10" Type="http://schemas.openxmlformats.org/officeDocument/2006/relationships/image" Target="../media/image18.jpe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C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-701825" y="-449144"/>
            <a:ext cx="8597341" cy="5909630"/>
            <a:chOff x="-701825" y="-449144"/>
            <a:chExt cx="8597341" cy="5909630"/>
          </a:xfrm>
        </p:grpSpPr>
        <p:sp>
          <p:nvSpPr>
            <p:cNvPr id="24" name="직사각형 22">
              <a:extLst>
                <a:ext uri="{FF2B5EF4-FFF2-40B4-BE49-F238E27FC236}">
                  <a16:creationId xmlns:a16="http://schemas.microsoft.com/office/drawing/2014/main" id="{496BE9B7-B4E3-43E8-8123-2223617B8D96}"/>
                </a:ext>
              </a:extLst>
            </p:cNvPr>
            <p:cNvSpPr/>
            <p:nvPr/>
          </p:nvSpPr>
          <p:spPr>
            <a:xfrm flipH="1">
              <a:off x="4701365" y="2504269"/>
              <a:ext cx="454742" cy="196048"/>
            </a:xfrm>
            <a:prstGeom prst="rtTriangle">
              <a:avLst/>
            </a:prstGeom>
            <a:solidFill>
              <a:schemeClr val="tx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C1BD51A-EC0E-47D9-B252-FB5A069A2DBE}"/>
                </a:ext>
              </a:extLst>
            </p:cNvPr>
            <p:cNvSpPr/>
            <p:nvPr/>
          </p:nvSpPr>
          <p:spPr>
            <a:xfrm rot="1187514" flipH="1">
              <a:off x="3518653" y="2425035"/>
              <a:ext cx="654949" cy="142488"/>
            </a:xfrm>
            <a:custGeom>
              <a:avLst/>
              <a:gdLst>
                <a:gd name="connsiteX0" fmla="*/ 0 w 522071"/>
                <a:gd name="connsiteY0" fmla="*/ 0 h 100618"/>
                <a:gd name="connsiteX1" fmla="*/ 522071 w 522071"/>
                <a:gd name="connsiteY1" fmla="*/ 0 h 100618"/>
                <a:gd name="connsiteX2" fmla="*/ 522071 w 522071"/>
                <a:gd name="connsiteY2" fmla="*/ 100618 h 100618"/>
                <a:gd name="connsiteX3" fmla="*/ 0 w 522071"/>
                <a:gd name="connsiteY3" fmla="*/ 100618 h 100618"/>
                <a:gd name="connsiteX4" fmla="*/ 0 w 522071"/>
                <a:gd name="connsiteY4" fmla="*/ 0 h 100618"/>
                <a:gd name="connsiteX0" fmla="*/ 120542 w 522071"/>
                <a:gd name="connsiteY0" fmla="*/ 30725 h 100618"/>
                <a:gd name="connsiteX1" fmla="*/ 522071 w 522071"/>
                <a:gd name="connsiteY1" fmla="*/ 0 h 100618"/>
                <a:gd name="connsiteX2" fmla="*/ 522071 w 522071"/>
                <a:gd name="connsiteY2" fmla="*/ 100618 h 100618"/>
                <a:gd name="connsiteX3" fmla="*/ 0 w 522071"/>
                <a:gd name="connsiteY3" fmla="*/ 100618 h 100618"/>
                <a:gd name="connsiteX4" fmla="*/ 120542 w 522071"/>
                <a:gd name="connsiteY4" fmla="*/ 30725 h 100618"/>
                <a:gd name="connsiteX0" fmla="*/ 76180 w 477709"/>
                <a:gd name="connsiteY0" fmla="*/ 30725 h 103928"/>
                <a:gd name="connsiteX1" fmla="*/ 477709 w 477709"/>
                <a:gd name="connsiteY1" fmla="*/ 0 h 103928"/>
                <a:gd name="connsiteX2" fmla="*/ 477709 w 477709"/>
                <a:gd name="connsiteY2" fmla="*/ 100618 h 103928"/>
                <a:gd name="connsiteX3" fmla="*/ 0 w 477709"/>
                <a:gd name="connsiteY3" fmla="*/ 103928 h 103928"/>
                <a:gd name="connsiteX4" fmla="*/ 76180 w 477709"/>
                <a:gd name="connsiteY4" fmla="*/ 30725 h 103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7709" h="103928">
                  <a:moveTo>
                    <a:pt x="76180" y="30725"/>
                  </a:moveTo>
                  <a:lnTo>
                    <a:pt x="477709" y="0"/>
                  </a:lnTo>
                  <a:lnTo>
                    <a:pt x="477709" y="100618"/>
                  </a:lnTo>
                  <a:lnTo>
                    <a:pt x="0" y="103928"/>
                  </a:lnTo>
                  <a:lnTo>
                    <a:pt x="76180" y="30725"/>
                  </a:lnTo>
                  <a:close/>
                </a:path>
              </a:pathLst>
            </a:custGeom>
            <a:solidFill>
              <a:schemeClr val="tx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" name="이등변 삼각형 1">
              <a:extLst>
                <a:ext uri="{FF2B5EF4-FFF2-40B4-BE49-F238E27FC236}">
                  <a16:creationId xmlns:a16="http://schemas.microsoft.com/office/drawing/2014/main" id="{06165984-4E1F-43A5-8FBE-B08FB8824C47}"/>
                </a:ext>
              </a:extLst>
            </p:cNvPr>
            <p:cNvSpPr/>
            <p:nvPr/>
          </p:nvSpPr>
          <p:spPr>
            <a:xfrm flipH="1" flipV="1">
              <a:off x="30243" y="-2837"/>
              <a:ext cx="5662415" cy="2319180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" name="평행 사변형 2">
              <a:extLst>
                <a:ext uri="{FF2B5EF4-FFF2-40B4-BE49-F238E27FC236}">
                  <a16:creationId xmlns:a16="http://schemas.microsoft.com/office/drawing/2014/main" id="{EB839075-D4E4-4D6C-9893-C0F777942F7F}"/>
                </a:ext>
              </a:extLst>
            </p:cNvPr>
            <p:cNvSpPr/>
            <p:nvPr/>
          </p:nvSpPr>
          <p:spPr>
            <a:xfrm rot="19232466">
              <a:off x="1966842" y="658131"/>
              <a:ext cx="5928674" cy="779335"/>
            </a:xfrm>
            <a:prstGeom prst="parallelogram">
              <a:avLst>
                <a:gd name="adj" fmla="val 82712"/>
              </a:avLst>
            </a:prstGeom>
            <a:pattFill prst="dkDn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A6B6B836-62C8-41A9-9EDF-D2F0B01661E6}"/>
                </a:ext>
              </a:extLst>
            </p:cNvPr>
            <p:cNvSpPr/>
            <p:nvPr/>
          </p:nvSpPr>
          <p:spPr>
            <a:xfrm flipH="1" flipV="1">
              <a:off x="1232762" y="892017"/>
              <a:ext cx="1844568" cy="1340722"/>
            </a:xfrm>
            <a:custGeom>
              <a:avLst/>
              <a:gdLst>
                <a:gd name="connsiteX0" fmla="*/ 1042202 w 1345397"/>
                <a:gd name="connsiteY0" fmla="*/ 977900 h 977900"/>
                <a:gd name="connsiteX1" fmla="*/ 1345397 w 1345397"/>
                <a:gd name="connsiteY1" fmla="*/ 977900 h 977900"/>
                <a:gd name="connsiteX2" fmla="*/ 151597 w 1345397"/>
                <a:gd name="connsiteY2" fmla="*/ 0 h 977900"/>
                <a:gd name="connsiteX3" fmla="*/ 0 w 1345397"/>
                <a:gd name="connsiteY3" fmla="*/ 124181 h 97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5397" h="977900">
                  <a:moveTo>
                    <a:pt x="1042202" y="977900"/>
                  </a:moveTo>
                  <a:lnTo>
                    <a:pt x="1345397" y="977900"/>
                  </a:lnTo>
                  <a:lnTo>
                    <a:pt x="151597" y="0"/>
                  </a:lnTo>
                  <a:lnTo>
                    <a:pt x="0" y="124181"/>
                  </a:lnTo>
                  <a:close/>
                </a:path>
              </a:pathLst>
            </a:custGeom>
            <a:solidFill>
              <a:schemeClr val="tx1">
                <a:alpha val="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" name="이등변 삼각형 10">
              <a:extLst>
                <a:ext uri="{FF2B5EF4-FFF2-40B4-BE49-F238E27FC236}">
                  <a16:creationId xmlns:a16="http://schemas.microsoft.com/office/drawing/2014/main" id="{80A8CCA4-1759-4223-AAED-2C0ABFCAE1C3}"/>
                </a:ext>
              </a:extLst>
            </p:cNvPr>
            <p:cNvSpPr/>
            <p:nvPr/>
          </p:nvSpPr>
          <p:spPr>
            <a:xfrm rot="16200000" flipH="1" flipV="1">
              <a:off x="-888366" y="1676094"/>
              <a:ext cx="4660567" cy="2908218"/>
            </a:xfrm>
            <a:prstGeom prst="triangle">
              <a:avLst>
                <a:gd name="adj" fmla="val 52095"/>
              </a:avLst>
            </a:pr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평행 사변형 7">
              <a:extLst>
                <a:ext uri="{FF2B5EF4-FFF2-40B4-BE49-F238E27FC236}">
                  <a16:creationId xmlns:a16="http://schemas.microsoft.com/office/drawing/2014/main" id="{78A34C8D-077B-4912-A506-ABC25A23E38A}"/>
                </a:ext>
              </a:extLst>
            </p:cNvPr>
            <p:cNvSpPr/>
            <p:nvPr/>
          </p:nvSpPr>
          <p:spPr>
            <a:xfrm rot="2367534" flipH="1">
              <a:off x="-701825" y="1155352"/>
              <a:ext cx="4343363" cy="779335"/>
            </a:xfrm>
            <a:prstGeom prst="parallelogram">
              <a:avLst>
                <a:gd name="adj" fmla="val 82712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9" name="현 8">
              <a:extLst>
                <a:ext uri="{FF2B5EF4-FFF2-40B4-BE49-F238E27FC236}">
                  <a16:creationId xmlns:a16="http://schemas.microsoft.com/office/drawing/2014/main" id="{F6C0491C-C38B-4251-9DF7-8C4B0AF5767A}"/>
                </a:ext>
              </a:extLst>
            </p:cNvPr>
            <p:cNvSpPr/>
            <p:nvPr/>
          </p:nvSpPr>
          <p:spPr>
            <a:xfrm flipH="1">
              <a:off x="1841390" y="1628231"/>
              <a:ext cx="1054640" cy="1054641"/>
            </a:xfrm>
            <a:prstGeom prst="chord">
              <a:avLst>
                <a:gd name="adj1" fmla="val 10434822"/>
                <a:gd name="adj2" fmla="val 17234785"/>
              </a:avLst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ECF57398-22C1-41B4-A37C-FA12A7DBBEF6}"/>
                </a:ext>
              </a:extLst>
            </p:cNvPr>
            <p:cNvSpPr/>
            <p:nvPr/>
          </p:nvSpPr>
          <p:spPr>
            <a:xfrm rot="5400000" flipH="1">
              <a:off x="-1591460" y="1130125"/>
              <a:ext cx="5909627" cy="2751090"/>
            </a:xfrm>
            <a:custGeom>
              <a:avLst/>
              <a:gdLst>
                <a:gd name="connsiteX0" fmla="*/ 0 w 4310382"/>
                <a:gd name="connsiteY0" fmla="*/ 2006599 h 2006599"/>
                <a:gd name="connsiteX1" fmla="*/ 2687825 w 4310382"/>
                <a:gd name="connsiteY1" fmla="*/ 0 h 2006599"/>
                <a:gd name="connsiteX2" fmla="*/ 4310382 w 4310382"/>
                <a:gd name="connsiteY2" fmla="*/ 2006599 h 2006599"/>
                <a:gd name="connsiteX3" fmla="*/ 0 w 4310382"/>
                <a:gd name="connsiteY3" fmla="*/ 2006599 h 2006599"/>
                <a:gd name="connsiteX0" fmla="*/ 0 w 4310382"/>
                <a:gd name="connsiteY0" fmla="*/ 2006599 h 2006599"/>
                <a:gd name="connsiteX1" fmla="*/ 2687825 w 4310382"/>
                <a:gd name="connsiteY1" fmla="*/ 0 h 2006599"/>
                <a:gd name="connsiteX2" fmla="*/ 4310382 w 4310382"/>
                <a:gd name="connsiteY2" fmla="*/ 2006599 h 2006599"/>
                <a:gd name="connsiteX3" fmla="*/ 0 w 4310382"/>
                <a:gd name="connsiteY3" fmla="*/ 2006599 h 2006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10382" h="2006599">
                  <a:moveTo>
                    <a:pt x="0" y="2006599"/>
                  </a:moveTo>
                  <a:cubicBezTo>
                    <a:pt x="895942" y="1337733"/>
                    <a:pt x="3065058" y="627594"/>
                    <a:pt x="2687825" y="0"/>
                  </a:cubicBezTo>
                  <a:lnTo>
                    <a:pt x="4310382" y="2006599"/>
                  </a:lnTo>
                  <a:lnTo>
                    <a:pt x="0" y="200659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자유형 34">
              <a:extLst>
                <a:ext uri="{FF2B5EF4-FFF2-40B4-BE49-F238E27FC236}">
                  <a16:creationId xmlns:a16="http://schemas.microsoft.com/office/drawing/2014/main" id="{B2894783-E741-4818-B1BF-72CCC06AA184}"/>
                </a:ext>
              </a:extLst>
            </p:cNvPr>
            <p:cNvSpPr/>
            <p:nvPr/>
          </p:nvSpPr>
          <p:spPr>
            <a:xfrm flipH="1">
              <a:off x="3579191" y="2084780"/>
              <a:ext cx="1677812" cy="628508"/>
            </a:xfrm>
            <a:custGeom>
              <a:avLst/>
              <a:gdLst>
                <a:gd name="connsiteX0" fmla="*/ 1541106 w 1677812"/>
                <a:gd name="connsiteY0" fmla="*/ 0 h 628508"/>
                <a:gd name="connsiteX1" fmla="*/ 1503313 w 1677812"/>
                <a:gd name="connsiteY1" fmla="*/ 43489 h 628508"/>
                <a:gd name="connsiteX2" fmla="*/ 1364561 w 1677812"/>
                <a:gd name="connsiteY2" fmla="*/ 278551 h 628508"/>
                <a:gd name="connsiteX3" fmla="*/ 1043529 w 1677812"/>
                <a:gd name="connsiteY3" fmla="*/ 500553 h 628508"/>
                <a:gd name="connsiteX4" fmla="*/ 687670 w 1677812"/>
                <a:gd name="connsiteY4" fmla="*/ 478790 h 628508"/>
                <a:gd name="connsiteX5" fmla="*/ 281756 w 1677812"/>
                <a:gd name="connsiteY5" fmla="*/ 402610 h 628508"/>
                <a:gd name="connsiteX6" fmla="*/ 149814 w 1677812"/>
                <a:gd name="connsiteY6" fmla="*/ 369376 h 628508"/>
                <a:gd name="connsiteX7" fmla="*/ 143010 w 1677812"/>
                <a:gd name="connsiteY7" fmla="*/ 371628 h 628508"/>
                <a:gd name="connsiteX8" fmla="*/ 78063 w 1677812"/>
                <a:gd name="connsiteY8" fmla="*/ 357970 h 628508"/>
                <a:gd name="connsiteX9" fmla="*/ 87076 w 1677812"/>
                <a:gd name="connsiteY9" fmla="*/ 370440 h 628508"/>
                <a:gd name="connsiteX10" fmla="*/ 66218 w 1677812"/>
                <a:gd name="connsiteY10" fmla="*/ 376071 h 628508"/>
                <a:gd name="connsiteX11" fmla="*/ 77806 w 1677812"/>
                <a:gd name="connsiteY11" fmla="*/ 381325 h 628508"/>
                <a:gd name="connsiteX12" fmla="*/ 54417 w 1677812"/>
                <a:gd name="connsiteY12" fmla="*/ 390279 h 628508"/>
                <a:gd name="connsiteX13" fmla="*/ 35061 w 1677812"/>
                <a:gd name="connsiteY13" fmla="*/ 410563 h 628508"/>
                <a:gd name="connsiteX14" fmla="*/ 49954 w 1677812"/>
                <a:gd name="connsiteY14" fmla="*/ 417874 h 628508"/>
                <a:gd name="connsiteX15" fmla="*/ 24848 w 1677812"/>
                <a:gd name="connsiteY15" fmla="*/ 431638 h 628508"/>
                <a:gd name="connsiteX16" fmla="*/ 37980 w 1677812"/>
                <a:gd name="connsiteY16" fmla="*/ 447653 h 628508"/>
                <a:gd name="connsiteX17" fmla="*/ 26265 w 1677812"/>
                <a:gd name="connsiteY17" fmla="*/ 454076 h 628508"/>
                <a:gd name="connsiteX18" fmla="*/ 37809 w 1677812"/>
                <a:gd name="connsiteY18" fmla="*/ 463223 h 628508"/>
                <a:gd name="connsiteX19" fmla="*/ 24377 w 1677812"/>
                <a:gd name="connsiteY19" fmla="*/ 474456 h 628508"/>
                <a:gd name="connsiteX20" fmla="*/ 34333 w 1677812"/>
                <a:gd name="connsiteY20" fmla="*/ 476736 h 628508"/>
                <a:gd name="connsiteX21" fmla="*/ 0 w 1677812"/>
                <a:gd name="connsiteY21" fmla="*/ 497493 h 628508"/>
                <a:gd name="connsiteX22" fmla="*/ 24120 w 1677812"/>
                <a:gd name="connsiteY22" fmla="*/ 497811 h 628508"/>
                <a:gd name="connsiteX23" fmla="*/ 9871 w 1677812"/>
                <a:gd name="connsiteY23" fmla="*/ 507557 h 628508"/>
                <a:gd name="connsiteX24" fmla="*/ 164397 w 1677812"/>
                <a:gd name="connsiteY24" fmla="*/ 546305 h 628508"/>
                <a:gd name="connsiteX25" fmla="*/ 172385 w 1677812"/>
                <a:gd name="connsiteY25" fmla="*/ 550673 h 628508"/>
                <a:gd name="connsiteX26" fmla="*/ 396020 w 1677812"/>
                <a:gd name="connsiteY26" fmla="*/ 591968 h 628508"/>
                <a:gd name="connsiteX27" fmla="*/ 916203 w 1677812"/>
                <a:gd name="connsiteY27" fmla="*/ 624613 h 628508"/>
                <a:gd name="connsiteX28" fmla="*/ 1316678 w 1677812"/>
                <a:gd name="connsiteY28" fmla="*/ 502729 h 628508"/>
                <a:gd name="connsiteX29" fmla="*/ 1647506 w 1677812"/>
                <a:gd name="connsiteY29" fmla="*/ 171902 h 628508"/>
                <a:gd name="connsiteX30" fmla="*/ 1676344 w 1677812"/>
                <a:gd name="connsiteY30" fmla="*/ 121161 h 628508"/>
                <a:gd name="connsiteX31" fmla="*/ 1677812 w 1677812"/>
                <a:gd name="connsiteY31" fmla="*/ 111984 h 628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7812" h="628508">
                  <a:moveTo>
                    <a:pt x="1541106" y="0"/>
                  </a:moveTo>
                  <a:lnTo>
                    <a:pt x="1503313" y="43489"/>
                  </a:lnTo>
                  <a:cubicBezTo>
                    <a:pt x="1462504" y="103887"/>
                    <a:pt x="1410267" y="193668"/>
                    <a:pt x="1364561" y="278551"/>
                  </a:cubicBezTo>
                  <a:cubicBezTo>
                    <a:pt x="1277501" y="356905"/>
                    <a:pt x="1246669" y="480239"/>
                    <a:pt x="1043529" y="500553"/>
                  </a:cubicBezTo>
                  <a:cubicBezTo>
                    <a:pt x="840388" y="520868"/>
                    <a:pt x="814632" y="495113"/>
                    <a:pt x="687670" y="478790"/>
                  </a:cubicBezTo>
                  <a:cubicBezTo>
                    <a:pt x="560708" y="462466"/>
                    <a:pt x="374983" y="419660"/>
                    <a:pt x="281756" y="402610"/>
                  </a:cubicBezTo>
                  <a:cubicBezTo>
                    <a:pt x="211836" y="389823"/>
                    <a:pt x="174665" y="369792"/>
                    <a:pt x="149814" y="369376"/>
                  </a:cubicBezTo>
                  <a:lnTo>
                    <a:pt x="143010" y="371628"/>
                  </a:lnTo>
                  <a:lnTo>
                    <a:pt x="78063" y="357970"/>
                  </a:lnTo>
                  <a:lnTo>
                    <a:pt x="87076" y="370440"/>
                  </a:lnTo>
                  <a:lnTo>
                    <a:pt x="66218" y="376071"/>
                  </a:lnTo>
                  <a:lnTo>
                    <a:pt x="77806" y="381325"/>
                  </a:lnTo>
                  <a:lnTo>
                    <a:pt x="54417" y="390279"/>
                  </a:lnTo>
                  <a:lnTo>
                    <a:pt x="35061" y="410563"/>
                  </a:lnTo>
                  <a:lnTo>
                    <a:pt x="49954" y="417874"/>
                  </a:lnTo>
                  <a:lnTo>
                    <a:pt x="24848" y="431638"/>
                  </a:lnTo>
                  <a:lnTo>
                    <a:pt x="37980" y="447653"/>
                  </a:lnTo>
                  <a:lnTo>
                    <a:pt x="26265" y="454076"/>
                  </a:lnTo>
                  <a:lnTo>
                    <a:pt x="37809" y="463223"/>
                  </a:lnTo>
                  <a:lnTo>
                    <a:pt x="24377" y="474456"/>
                  </a:lnTo>
                  <a:lnTo>
                    <a:pt x="34333" y="476736"/>
                  </a:lnTo>
                  <a:lnTo>
                    <a:pt x="0" y="497493"/>
                  </a:lnTo>
                  <a:lnTo>
                    <a:pt x="24120" y="497811"/>
                  </a:lnTo>
                  <a:lnTo>
                    <a:pt x="9871" y="507557"/>
                  </a:lnTo>
                  <a:lnTo>
                    <a:pt x="164397" y="546305"/>
                  </a:lnTo>
                  <a:lnTo>
                    <a:pt x="172385" y="550673"/>
                  </a:lnTo>
                  <a:cubicBezTo>
                    <a:pt x="222648" y="569998"/>
                    <a:pt x="297805" y="579861"/>
                    <a:pt x="396020" y="591968"/>
                  </a:cubicBezTo>
                  <a:cubicBezTo>
                    <a:pt x="526973" y="608110"/>
                    <a:pt x="762760" y="639486"/>
                    <a:pt x="916203" y="624613"/>
                  </a:cubicBezTo>
                  <a:cubicBezTo>
                    <a:pt x="1069646" y="609740"/>
                    <a:pt x="1194795" y="578181"/>
                    <a:pt x="1316678" y="502729"/>
                  </a:cubicBezTo>
                  <a:cubicBezTo>
                    <a:pt x="1438562" y="427278"/>
                    <a:pt x="1589466" y="250256"/>
                    <a:pt x="1647506" y="171902"/>
                  </a:cubicBezTo>
                  <a:cubicBezTo>
                    <a:pt x="1662015" y="152314"/>
                    <a:pt x="1671085" y="135627"/>
                    <a:pt x="1676344" y="121161"/>
                  </a:cubicBezTo>
                  <a:lnTo>
                    <a:pt x="1677812" y="111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F69C6093-289F-4399-93DF-ED4EDA90EB2A}"/>
                </a:ext>
              </a:extLst>
            </p:cNvPr>
            <p:cNvSpPr/>
            <p:nvPr/>
          </p:nvSpPr>
          <p:spPr>
            <a:xfrm flipH="1" flipV="1">
              <a:off x="3426159" y="1978178"/>
              <a:ext cx="445881" cy="357571"/>
            </a:xfrm>
            <a:custGeom>
              <a:avLst/>
              <a:gdLst>
                <a:gd name="connsiteX0" fmla="*/ 0 w 1219416"/>
                <a:gd name="connsiteY0" fmla="*/ 977900 h 977900"/>
                <a:gd name="connsiteX1" fmla="*/ 51233 w 1219416"/>
                <a:gd name="connsiteY1" fmla="*/ 977900 h 977900"/>
                <a:gd name="connsiteX2" fmla="*/ 1219416 w 1219416"/>
                <a:gd name="connsiteY2" fmla="*/ 20983 h 977900"/>
                <a:gd name="connsiteX3" fmla="*/ 1193800 w 1219416"/>
                <a:gd name="connsiteY3" fmla="*/ 0 h 97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416" h="977900">
                  <a:moveTo>
                    <a:pt x="0" y="977900"/>
                  </a:moveTo>
                  <a:lnTo>
                    <a:pt x="51233" y="977900"/>
                  </a:lnTo>
                  <a:lnTo>
                    <a:pt x="1219416" y="20983"/>
                  </a:lnTo>
                  <a:lnTo>
                    <a:pt x="1193800" y="0"/>
                  </a:lnTo>
                  <a:close/>
                </a:path>
              </a:pathLst>
            </a:custGeom>
            <a:solidFill>
              <a:schemeClr val="tx1">
                <a:alpha val="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73AF259-54C3-4336-81D8-A1732AEECBE8}"/>
              </a:ext>
            </a:extLst>
          </p:cNvPr>
          <p:cNvSpPr txBox="1"/>
          <p:nvPr/>
        </p:nvSpPr>
        <p:spPr>
          <a:xfrm>
            <a:off x="4418097" y="2965726"/>
            <a:ext cx="7503925" cy="125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4400" b="1" i="1" kern="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FIRST AID ACADEMY LMS</a:t>
            </a:r>
          </a:p>
          <a:p>
            <a:pPr latinLnBrk="0">
              <a:lnSpc>
                <a:spcPct val="150000"/>
              </a:lnSpc>
              <a:defRPr/>
            </a:pPr>
            <a:r>
              <a:rPr lang="en-US" altLang="ko-KR" sz="1000" dirty="0"/>
              <a:t>DW</a:t>
            </a:r>
            <a:r>
              <a:rPr lang="ko-KR" altLang="en-US" sz="1000" dirty="0"/>
              <a:t>아카데미 </a:t>
            </a:r>
            <a:r>
              <a:rPr lang="en-US" altLang="ko-KR" sz="1000" dirty="0"/>
              <a:t>[</a:t>
            </a:r>
            <a:r>
              <a:rPr lang="ko-KR" altLang="en-US" sz="1000" dirty="0"/>
              <a:t>기업 프로젝트</a:t>
            </a:r>
            <a:r>
              <a:rPr lang="en-US" altLang="ko-KR" sz="1000" dirty="0"/>
              <a:t>] </a:t>
            </a:r>
            <a:r>
              <a:rPr lang="ko-KR" altLang="en-US" sz="1000" dirty="0"/>
              <a:t>메타버스 </a:t>
            </a:r>
            <a:r>
              <a:rPr lang="ko-KR" altLang="en-US" sz="1000" dirty="0" err="1"/>
              <a:t>에듀테크</a:t>
            </a:r>
            <a:r>
              <a:rPr lang="ko-KR" altLang="en-US" sz="1000" dirty="0"/>
              <a:t> 개발자 트랙 </a:t>
            </a:r>
            <a:r>
              <a:rPr lang="en-US" altLang="ko-KR" sz="1000" dirty="0"/>
              <a:t>9</a:t>
            </a:r>
            <a:r>
              <a:rPr lang="ko-KR" altLang="en-US" sz="1000" dirty="0" err="1"/>
              <a:t>회차</a:t>
            </a:r>
            <a:endParaRPr lang="ko-KR" altLang="en-US" sz="1000" dirty="0"/>
          </a:p>
          <a:p>
            <a:pPr latinLnBrk="0">
              <a:lnSpc>
                <a:spcPct val="150000"/>
              </a:lnSpc>
              <a:defRPr/>
            </a:pPr>
            <a:endParaRPr lang="en-US" altLang="ko-KR" sz="1100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7" t="36606" r="2575" b="33939"/>
          <a:stretch/>
        </p:blipFill>
        <p:spPr>
          <a:xfrm>
            <a:off x="3063467" y="4197522"/>
            <a:ext cx="1432513" cy="145648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88" t="37697" r="44998" b="40000"/>
          <a:stretch/>
        </p:blipFill>
        <p:spPr>
          <a:xfrm flipH="1">
            <a:off x="2501107" y="4465321"/>
            <a:ext cx="754618" cy="79575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95" t="36363" r="38878" b="55394"/>
          <a:stretch/>
        </p:blipFill>
        <p:spPr>
          <a:xfrm>
            <a:off x="2414952" y="4950458"/>
            <a:ext cx="373093" cy="46982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97" t="3394" r="1653" b="63151"/>
          <a:stretch/>
        </p:blipFill>
        <p:spPr>
          <a:xfrm>
            <a:off x="9393380" y="433895"/>
            <a:ext cx="2715491" cy="2070374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6896791" y="6461457"/>
            <a:ext cx="529520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smtClean="0"/>
              <a:t>[</a:t>
            </a:r>
            <a:r>
              <a:rPr lang="ko-KR" altLang="en-US" sz="1200" dirty="0" smtClean="0"/>
              <a:t>팀</a:t>
            </a:r>
            <a:r>
              <a:rPr lang="en-US" altLang="ko-KR" sz="1200" dirty="0"/>
              <a:t>A] </a:t>
            </a:r>
            <a:r>
              <a:rPr lang="ko-KR" altLang="en-US" sz="1200" dirty="0"/>
              <a:t>양동현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신재진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김유빈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강성웅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천이슬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최예림</a:t>
            </a:r>
            <a:r>
              <a:rPr lang="ko-KR" altLang="en-US" sz="1200" dirty="0"/>
              <a:t>  </a:t>
            </a:r>
            <a:r>
              <a:rPr lang="en-US" altLang="ko-KR" sz="1200" dirty="0"/>
              <a:t>[</a:t>
            </a:r>
            <a:r>
              <a:rPr lang="ko-KR" altLang="en-US" sz="1200" dirty="0"/>
              <a:t>멘토</a:t>
            </a:r>
            <a:r>
              <a:rPr lang="en-US" altLang="ko-KR" sz="1200" dirty="0" smtClean="0"/>
              <a:t>] </a:t>
            </a:r>
            <a:r>
              <a:rPr lang="ko-KR" altLang="en-US" sz="1200" dirty="0" err="1" smtClean="0"/>
              <a:t>김건하</a:t>
            </a:r>
            <a:r>
              <a:rPr lang="ko-KR" altLang="en-US" sz="1200" dirty="0" smtClean="0"/>
              <a:t> 멘토님</a:t>
            </a:r>
            <a:endParaRPr lang="ko-KR" altLang="en-US" sz="1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41" y="2931477"/>
            <a:ext cx="2487173" cy="18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83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/>
          <p:cNvSpPr txBox="1"/>
          <p:nvPr/>
        </p:nvSpPr>
        <p:spPr>
          <a:xfrm>
            <a:off x="4477497" y="2104312"/>
            <a:ext cx="22413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rgbClr val="2C431D"/>
                </a:solidFill>
              </a:rPr>
              <a:t>01. </a:t>
            </a:r>
            <a:r>
              <a:rPr lang="ko-KR" altLang="en-US" sz="2000" dirty="0" smtClean="0">
                <a:solidFill>
                  <a:srgbClr val="2C431D"/>
                </a:solidFill>
              </a:rPr>
              <a:t>프로젝트</a:t>
            </a:r>
            <a:r>
              <a:rPr lang="en-US" altLang="ko-KR" sz="2000" dirty="0" smtClean="0">
                <a:solidFill>
                  <a:srgbClr val="2C431D"/>
                </a:solidFill>
              </a:rPr>
              <a:t> </a:t>
            </a:r>
            <a:r>
              <a:rPr lang="ko-KR" altLang="en-US" sz="2000" dirty="0" smtClean="0">
                <a:solidFill>
                  <a:srgbClr val="2C431D"/>
                </a:solidFill>
              </a:rPr>
              <a:t>개요</a:t>
            </a:r>
            <a:endParaRPr lang="ko-KR" altLang="en-US" sz="2000" dirty="0">
              <a:solidFill>
                <a:srgbClr val="2C431D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477497" y="2658310"/>
            <a:ext cx="3536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rgbClr val="2C431D"/>
                </a:solidFill>
              </a:rPr>
              <a:t>02. </a:t>
            </a:r>
            <a:r>
              <a:rPr lang="ko-KR" altLang="en-US" sz="2000" dirty="0" smtClean="0">
                <a:solidFill>
                  <a:srgbClr val="2C431D"/>
                </a:solidFill>
              </a:rPr>
              <a:t>프로젝트</a:t>
            </a:r>
            <a:r>
              <a:rPr lang="en-US" altLang="ko-KR" sz="2000" dirty="0" smtClean="0">
                <a:solidFill>
                  <a:srgbClr val="2C431D"/>
                </a:solidFill>
              </a:rPr>
              <a:t> </a:t>
            </a:r>
            <a:r>
              <a:rPr lang="ko-KR" altLang="en-US" sz="2000" dirty="0" smtClean="0">
                <a:solidFill>
                  <a:srgbClr val="2C431D"/>
                </a:solidFill>
              </a:rPr>
              <a:t>팀 구성 및 역할</a:t>
            </a:r>
            <a:endParaRPr lang="ko-KR" altLang="en-US" sz="2000" dirty="0">
              <a:solidFill>
                <a:srgbClr val="2C431D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477497" y="3212308"/>
            <a:ext cx="2844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rgbClr val="2C431D"/>
                </a:solidFill>
              </a:rPr>
              <a:t>03. </a:t>
            </a:r>
            <a:r>
              <a:rPr lang="ko-KR" altLang="en-US" sz="2000" dirty="0" smtClean="0">
                <a:solidFill>
                  <a:srgbClr val="2C431D"/>
                </a:solidFill>
              </a:rPr>
              <a:t>프로젝트</a:t>
            </a:r>
            <a:r>
              <a:rPr lang="en-US" altLang="ko-KR" sz="2000" dirty="0" smtClean="0">
                <a:solidFill>
                  <a:srgbClr val="2C431D"/>
                </a:solidFill>
              </a:rPr>
              <a:t> </a:t>
            </a:r>
            <a:r>
              <a:rPr lang="ko-KR" altLang="en-US" sz="2000" dirty="0" smtClean="0">
                <a:solidFill>
                  <a:srgbClr val="2C431D"/>
                </a:solidFill>
              </a:rPr>
              <a:t>기술 스택</a:t>
            </a:r>
            <a:endParaRPr lang="ko-KR" altLang="en-US" sz="2000" dirty="0">
              <a:solidFill>
                <a:srgbClr val="2C431D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477497" y="3766306"/>
            <a:ext cx="2844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rgbClr val="2C431D"/>
                </a:solidFill>
              </a:rPr>
              <a:t>04. </a:t>
            </a:r>
            <a:r>
              <a:rPr lang="ko-KR" altLang="en-US" sz="2000" dirty="0" smtClean="0">
                <a:solidFill>
                  <a:srgbClr val="2C431D"/>
                </a:solidFill>
              </a:rPr>
              <a:t>프로젝트</a:t>
            </a:r>
            <a:r>
              <a:rPr lang="en-US" altLang="ko-KR" sz="2000" dirty="0" smtClean="0">
                <a:solidFill>
                  <a:srgbClr val="2C431D"/>
                </a:solidFill>
              </a:rPr>
              <a:t> </a:t>
            </a:r>
            <a:r>
              <a:rPr lang="ko-KR" altLang="en-US" sz="2000" dirty="0" smtClean="0">
                <a:solidFill>
                  <a:srgbClr val="2C431D"/>
                </a:solidFill>
              </a:rPr>
              <a:t>수행 절차</a:t>
            </a:r>
            <a:endParaRPr lang="ko-KR" altLang="en-US" sz="2000" dirty="0">
              <a:solidFill>
                <a:srgbClr val="2C431D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477497" y="4320304"/>
            <a:ext cx="30107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rgbClr val="2C431D"/>
                </a:solidFill>
              </a:rPr>
              <a:t>05. </a:t>
            </a:r>
            <a:r>
              <a:rPr lang="ko-KR" altLang="en-US" sz="2000" dirty="0" smtClean="0">
                <a:solidFill>
                  <a:srgbClr val="2C431D"/>
                </a:solidFill>
              </a:rPr>
              <a:t>프로젝트 다이어그램</a:t>
            </a:r>
            <a:endParaRPr lang="ko-KR" altLang="en-US" sz="2000" dirty="0">
              <a:solidFill>
                <a:srgbClr val="2C431D"/>
              </a:solidFill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4545232" y="-394553"/>
            <a:ext cx="2630029" cy="2630029"/>
            <a:chOff x="648960" y="-495867"/>
            <a:chExt cx="2630029" cy="2630029"/>
          </a:xfrm>
        </p:grpSpPr>
        <p:pic>
          <p:nvPicPr>
            <p:cNvPr id="74" name="그림 7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2630029" cy="2630029"/>
            </a:xfrm>
            <a:prstGeom prst="rect">
              <a:avLst/>
            </a:prstGeom>
          </p:spPr>
        </p:pic>
        <p:sp>
          <p:nvSpPr>
            <p:cNvPr id="85" name="TextBox 84"/>
            <p:cNvSpPr txBox="1"/>
            <p:nvPr/>
          </p:nvSpPr>
          <p:spPr>
            <a:xfrm>
              <a:off x="998902" y="526759"/>
              <a:ext cx="193014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3200" b="1" dirty="0" smtClean="0">
                  <a:solidFill>
                    <a:schemeClr val="bg1"/>
                  </a:solidFill>
                </a:rPr>
                <a:t>Contents</a:t>
              </a:r>
              <a:endParaRPr lang="ko-KR" altLang="en-US" sz="3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4477497" y="4874302"/>
            <a:ext cx="30107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rgbClr val="2C431D"/>
                </a:solidFill>
              </a:rPr>
              <a:t>06. </a:t>
            </a:r>
            <a:r>
              <a:rPr lang="ko-KR" altLang="en-US" sz="2000" dirty="0" smtClean="0">
                <a:solidFill>
                  <a:srgbClr val="2C431D"/>
                </a:solidFill>
              </a:rPr>
              <a:t>프로젝트 스토리보드</a:t>
            </a:r>
            <a:endParaRPr lang="ko-KR" altLang="en-US" sz="2000" dirty="0">
              <a:solidFill>
                <a:srgbClr val="2C431D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77497" y="5428300"/>
            <a:ext cx="23310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smtClean="0">
                <a:solidFill>
                  <a:srgbClr val="2C431D"/>
                </a:solidFill>
              </a:rPr>
              <a:t>07. </a:t>
            </a:r>
            <a:r>
              <a:rPr lang="ko-KR" altLang="en-US" sz="2000" dirty="0" smtClean="0">
                <a:solidFill>
                  <a:srgbClr val="2C431D"/>
                </a:solidFill>
              </a:rPr>
              <a:t>자체 평가 의견</a:t>
            </a:r>
            <a:endParaRPr lang="ko-KR" altLang="en-US" sz="2000" dirty="0">
              <a:solidFill>
                <a:srgbClr val="2C431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08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41096" y="1544531"/>
            <a:ext cx="696207" cy="369332"/>
            <a:chOff x="3241096" y="1544531"/>
            <a:chExt cx="696207" cy="369332"/>
          </a:xfrm>
        </p:grpSpPr>
        <p:sp>
          <p:nvSpPr>
            <p:cNvPr id="5" name="TextBox 4"/>
            <p:cNvSpPr txBox="1"/>
            <p:nvPr/>
          </p:nvSpPr>
          <p:spPr>
            <a:xfrm>
              <a:off x="3290972" y="154453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2C431D"/>
                  </a:solidFill>
                </a:rPr>
                <a:t>주제</a:t>
              </a:r>
              <a:endParaRPr lang="ko-KR" altLang="en-US" b="1" dirty="0">
                <a:solidFill>
                  <a:srgbClr val="2C431D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241096" y="1608662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241096" y="3511109"/>
            <a:ext cx="1239625" cy="369332"/>
            <a:chOff x="3241096" y="3511109"/>
            <a:chExt cx="1239625" cy="369332"/>
          </a:xfrm>
        </p:grpSpPr>
        <p:sp>
          <p:nvSpPr>
            <p:cNvPr id="8" name="TextBox 7"/>
            <p:cNvSpPr txBox="1"/>
            <p:nvPr/>
          </p:nvSpPr>
          <p:spPr>
            <a:xfrm>
              <a:off x="3290972" y="3511109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2C431D"/>
                  </a:solidFill>
                </a:rPr>
                <a:t>선정 배경</a:t>
              </a:r>
              <a:endParaRPr lang="ko-KR" altLang="en-US" b="1" dirty="0">
                <a:solidFill>
                  <a:srgbClr val="2C431D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241096" y="3575240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658484" y="-417077"/>
            <a:ext cx="2322103" cy="2322103"/>
            <a:chOff x="648960" y="-495867"/>
            <a:chExt cx="2630029" cy="2630029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2630029" cy="2630029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1028773" y="609993"/>
              <a:ext cx="1870402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개요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3241096" y="1988482"/>
            <a:ext cx="4993675" cy="869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일상 생활 속 응급 상황 대응 능력 향상을 위한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온라인 </a:t>
            </a:r>
            <a:r>
              <a:rPr lang="en-US" altLang="ko-KR" dirty="0" smtClean="0"/>
              <a:t>LMS </a:t>
            </a:r>
            <a:r>
              <a:rPr lang="ko-KR" altLang="en-US" dirty="0" smtClean="0"/>
              <a:t>교육 시스템 개발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281347" y="3979308"/>
            <a:ext cx="7383753" cy="1700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응급 환자의 생존율은 초기 대응 시간에 크게 좌우되지만</a:t>
            </a:r>
            <a:r>
              <a:rPr lang="en-US" altLang="ko-KR" dirty="0" smtClean="0"/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dirty="0" smtClean="0"/>
              <a:t>일반인의 응급 처치 교육 참여율은 여전히 낮은 수준입니다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이를 개선하기 위해 누구나 접근 가능한 온라인 학습 환경을 제공하는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 smtClean="0"/>
              <a:t>LMS </a:t>
            </a:r>
            <a:r>
              <a:rPr lang="ko-KR" altLang="en-US" dirty="0" smtClean="0"/>
              <a:t>교육 프로그램을 선정하였습니다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073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직선 연결선 81"/>
          <p:cNvCxnSpPr/>
          <p:nvPr/>
        </p:nvCxnSpPr>
        <p:spPr>
          <a:xfrm>
            <a:off x="2671157" y="1920241"/>
            <a:ext cx="7032567" cy="0"/>
          </a:xfrm>
          <a:prstGeom prst="line">
            <a:avLst/>
          </a:prstGeom>
          <a:ln w="28575">
            <a:solidFill>
              <a:srgbClr val="3856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2671156" y="2338644"/>
            <a:ext cx="7032567" cy="0"/>
          </a:xfrm>
          <a:prstGeom prst="line">
            <a:avLst/>
          </a:prstGeom>
          <a:ln w="28575">
            <a:solidFill>
              <a:srgbClr val="3856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801390" y="19471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훈련생</a:t>
            </a:r>
            <a:endParaRPr lang="ko-KR" alt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4166716" y="19471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역할</a:t>
            </a:r>
            <a:endParaRPr lang="ko-KR" alt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6824750" y="194714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담당 업무</a:t>
            </a:r>
            <a:endParaRPr lang="ko-KR" altLang="en-US" dirty="0"/>
          </a:p>
        </p:txBody>
      </p:sp>
      <p:cxnSp>
        <p:nvCxnSpPr>
          <p:cNvPr id="90" name="직선 연결선 89"/>
          <p:cNvCxnSpPr/>
          <p:nvPr/>
        </p:nvCxnSpPr>
        <p:spPr>
          <a:xfrm>
            <a:off x="2671157" y="4860171"/>
            <a:ext cx="7032567" cy="0"/>
          </a:xfrm>
          <a:prstGeom prst="line">
            <a:avLst/>
          </a:prstGeom>
          <a:ln w="28575">
            <a:solidFill>
              <a:srgbClr val="3856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2801390" y="242374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양동현</a:t>
            </a:r>
            <a:endParaRPr lang="ko-KR" alt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2801391" y="282275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 smtClean="0"/>
              <a:t>신재진</a:t>
            </a:r>
            <a:endParaRPr lang="ko-KR" alt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2801391" y="32231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 smtClean="0"/>
              <a:t>김유빈</a:t>
            </a:r>
            <a:endParaRPr lang="ko-KR" alt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2801391" y="362216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 smtClean="0"/>
              <a:t>강성웅</a:t>
            </a:r>
            <a:endParaRPr lang="ko-KR" alt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2801391" y="401616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 smtClean="0"/>
              <a:t>천이슬</a:t>
            </a:r>
            <a:endParaRPr lang="ko-KR" alt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2801391" y="44151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 smtClean="0"/>
              <a:t>최예림</a:t>
            </a:r>
            <a:endParaRPr lang="ko-KR" alt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4166714" y="2423743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팀장</a:t>
            </a:r>
            <a:endParaRPr lang="ko-KR" altLang="en-US" dirty="0"/>
          </a:p>
        </p:txBody>
      </p:sp>
      <p:sp>
        <p:nvSpPr>
          <p:cNvPr id="98" name="TextBox 97"/>
          <p:cNvSpPr txBox="1"/>
          <p:nvPr/>
        </p:nvSpPr>
        <p:spPr>
          <a:xfrm>
            <a:off x="4166715" y="2822755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팀원</a:t>
            </a:r>
            <a:endParaRPr lang="ko-KR" alt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4166715" y="3223150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팀원</a:t>
            </a:r>
            <a:endParaRPr lang="ko-KR" altLang="en-US" dirty="0"/>
          </a:p>
        </p:txBody>
      </p:sp>
      <p:sp>
        <p:nvSpPr>
          <p:cNvPr id="100" name="TextBox 99"/>
          <p:cNvSpPr txBox="1"/>
          <p:nvPr/>
        </p:nvSpPr>
        <p:spPr>
          <a:xfrm>
            <a:off x="4166715" y="3622162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팀원</a:t>
            </a:r>
            <a:endParaRPr lang="ko-KR" alt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4166715" y="4016169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팀원</a:t>
            </a:r>
            <a:endParaRPr lang="ko-KR" altLang="en-US" dirty="0"/>
          </a:p>
        </p:txBody>
      </p:sp>
      <p:sp>
        <p:nvSpPr>
          <p:cNvPr id="102" name="TextBox 101"/>
          <p:cNvSpPr txBox="1"/>
          <p:nvPr/>
        </p:nvSpPr>
        <p:spPr>
          <a:xfrm>
            <a:off x="4166715" y="4415181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/>
              <a:t>팀원</a:t>
            </a:r>
            <a:endParaRPr lang="ko-KR" altLang="en-US" dirty="0"/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5926977" y="4039161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/>
          <p:cNvSpPr txBox="1"/>
          <p:nvPr/>
        </p:nvSpPr>
        <p:spPr>
          <a:xfrm>
            <a:off x="6202097" y="401616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FE</a:t>
            </a:r>
            <a:endParaRPr lang="ko-KR" altLang="en-US" dirty="0"/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5926977" y="4438167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6202097" y="441517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FE</a:t>
            </a:r>
            <a:endParaRPr lang="ko-KR" altLang="en-US" dirty="0"/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5926977" y="3238068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TextBox 107"/>
          <p:cNvSpPr txBox="1"/>
          <p:nvPr/>
        </p:nvSpPr>
        <p:spPr>
          <a:xfrm>
            <a:off x="6202097" y="321507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BE</a:t>
            </a:r>
            <a:endParaRPr lang="ko-KR" altLang="en-US" dirty="0"/>
          </a:p>
        </p:txBody>
      </p:sp>
      <p:sp>
        <p:nvSpPr>
          <p:cNvPr id="109" name="모서리가 둥근 직사각형 108"/>
          <p:cNvSpPr/>
          <p:nvPr/>
        </p:nvSpPr>
        <p:spPr>
          <a:xfrm>
            <a:off x="5926977" y="3637074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6202097" y="361408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BE</a:t>
            </a:r>
            <a:endParaRPr lang="ko-KR" altLang="en-US" dirty="0"/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5926977" y="2440211"/>
            <a:ext cx="968947" cy="323348"/>
          </a:xfrm>
          <a:prstGeom prst="roundRect">
            <a:avLst>
              <a:gd name="adj" fmla="val 50000"/>
            </a:avLst>
          </a:prstGeom>
          <a:solidFill>
            <a:srgbClr val="FFD5D5"/>
          </a:solidFill>
          <a:ln>
            <a:solidFill>
              <a:srgbClr val="FF89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6147594" y="2417219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PM</a:t>
            </a:r>
            <a:endParaRPr lang="ko-KR" altLang="en-US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5926977" y="2839217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TextBox 113"/>
          <p:cNvSpPr txBox="1"/>
          <p:nvPr/>
        </p:nvSpPr>
        <p:spPr>
          <a:xfrm>
            <a:off x="6044923" y="2816225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Unity</a:t>
            </a:r>
            <a:endParaRPr lang="ko-KR" altLang="en-US" dirty="0"/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7019904" y="3238068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TextBox 115"/>
          <p:cNvSpPr txBox="1"/>
          <p:nvPr/>
        </p:nvSpPr>
        <p:spPr>
          <a:xfrm>
            <a:off x="7262162" y="3215073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DB</a:t>
            </a:r>
            <a:endParaRPr lang="ko-KR" altLang="en-US" dirty="0"/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7019904" y="2440211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/>
          <p:cNvSpPr txBox="1"/>
          <p:nvPr/>
        </p:nvSpPr>
        <p:spPr>
          <a:xfrm>
            <a:off x="7285406" y="241721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BE</a:t>
            </a:r>
            <a:endParaRPr lang="ko-KR" altLang="en-US" dirty="0"/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8112826" y="2442109"/>
            <a:ext cx="968947" cy="323348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/>
          <p:cNvSpPr txBox="1"/>
          <p:nvPr/>
        </p:nvSpPr>
        <p:spPr>
          <a:xfrm>
            <a:off x="8355086" y="2419117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DB</a:t>
            </a:r>
            <a:endParaRPr lang="ko-KR" altLang="en-US" dirty="0"/>
          </a:p>
        </p:txBody>
      </p:sp>
      <p:grpSp>
        <p:nvGrpSpPr>
          <p:cNvPr id="125" name="그룹 124"/>
          <p:cNvGrpSpPr/>
          <p:nvPr/>
        </p:nvGrpSpPr>
        <p:grpSpPr>
          <a:xfrm>
            <a:off x="658484" y="-417077"/>
            <a:ext cx="3399166" cy="2322103"/>
            <a:chOff x="648960" y="-495867"/>
            <a:chExt cx="3849918" cy="2630029"/>
          </a:xfrm>
        </p:grpSpPr>
        <p:pic>
          <p:nvPicPr>
            <p:cNvPr id="126" name="그림 12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3849918" cy="2630029"/>
            </a:xfrm>
            <a:prstGeom prst="rect">
              <a:avLst/>
            </a:prstGeom>
          </p:spPr>
        </p:pic>
        <p:sp>
          <p:nvSpPr>
            <p:cNvPr id="127" name="TextBox 126"/>
            <p:cNvSpPr txBox="1"/>
            <p:nvPr/>
          </p:nvSpPr>
          <p:spPr>
            <a:xfrm>
              <a:off x="1028773" y="609993"/>
              <a:ext cx="3193954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팀 구성 및 역할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모서리가 둥근 직사각형 40"/>
          <p:cNvSpPr/>
          <p:nvPr/>
        </p:nvSpPr>
        <p:spPr>
          <a:xfrm>
            <a:off x="7019904" y="4014087"/>
            <a:ext cx="968947" cy="323348"/>
          </a:xfrm>
          <a:prstGeom prst="roundRect">
            <a:avLst>
              <a:gd name="adj" fmla="val 50000"/>
            </a:avLst>
          </a:prstGeom>
          <a:solidFill>
            <a:srgbClr val="E2D0F0"/>
          </a:solidFill>
          <a:ln>
            <a:solidFill>
              <a:srgbClr val="D1B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7295027" y="3991092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UI</a:t>
            </a:r>
            <a:endParaRPr lang="ko-KR" altLang="en-US" dirty="0"/>
          </a:p>
        </p:txBody>
      </p:sp>
      <p:sp>
        <p:nvSpPr>
          <p:cNvPr id="43" name="모서리가 둥근 직사각형 42"/>
          <p:cNvSpPr/>
          <p:nvPr/>
        </p:nvSpPr>
        <p:spPr>
          <a:xfrm>
            <a:off x="8112826" y="4014087"/>
            <a:ext cx="968947" cy="323348"/>
          </a:xfrm>
          <a:prstGeom prst="roundRect">
            <a:avLst>
              <a:gd name="adj" fmla="val 50000"/>
            </a:avLst>
          </a:prstGeom>
          <a:solidFill>
            <a:srgbClr val="F8CCAE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8355084" y="399109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UX</a:t>
            </a:r>
            <a:endParaRPr lang="ko-KR" altLang="en-US" dirty="0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7019904" y="4438167"/>
            <a:ext cx="968947" cy="323348"/>
          </a:xfrm>
          <a:prstGeom prst="roundRect">
            <a:avLst>
              <a:gd name="adj" fmla="val 50000"/>
            </a:avLst>
          </a:prstGeom>
          <a:solidFill>
            <a:srgbClr val="E2D0F0"/>
          </a:solidFill>
          <a:ln>
            <a:solidFill>
              <a:srgbClr val="D1B3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7295027" y="4423760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UI</a:t>
            </a:r>
            <a:endParaRPr lang="ko-KR" altLang="en-US" dirty="0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8112826" y="4438167"/>
            <a:ext cx="968947" cy="323348"/>
          </a:xfrm>
          <a:prstGeom prst="roundRect">
            <a:avLst>
              <a:gd name="adj" fmla="val 50000"/>
            </a:avLst>
          </a:prstGeom>
          <a:solidFill>
            <a:srgbClr val="F8CCAE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8355084" y="441517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UX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1859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993828" y="1301424"/>
            <a:ext cx="3280453" cy="2183590"/>
            <a:chOff x="1064030" y="1147154"/>
            <a:chExt cx="3663104" cy="2438297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1064030" y="1350816"/>
              <a:ext cx="3663104" cy="2234635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38562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모서리가 둥근 직사각형 23"/>
            <p:cNvSpPr/>
            <p:nvPr/>
          </p:nvSpPr>
          <p:spPr>
            <a:xfrm>
              <a:off x="1347830" y="1147154"/>
              <a:ext cx="946484" cy="407324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288909" y="1147154"/>
              <a:ext cx="1064327" cy="4124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rgbClr val="385624"/>
                  </a:solidFill>
                </a:rPr>
                <a:t>FRONT</a:t>
              </a:r>
              <a:endParaRPr lang="ko-KR" altLang="en-US" b="1" dirty="0">
                <a:solidFill>
                  <a:srgbClr val="385624"/>
                </a:solidFill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658484" y="-417077"/>
            <a:ext cx="2777735" cy="2322103"/>
            <a:chOff x="648960" y="-495867"/>
            <a:chExt cx="3146081" cy="2630029"/>
          </a:xfrm>
        </p:grpSpPr>
        <p:pic>
          <p:nvPicPr>
            <p:cNvPr id="29" name="그림 2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3146081" cy="2630029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1028773" y="609993"/>
              <a:ext cx="2485881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기술 스택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996486" y="3667401"/>
            <a:ext cx="3277795" cy="2345600"/>
            <a:chOff x="1064029" y="1147154"/>
            <a:chExt cx="3660136" cy="2619205"/>
          </a:xfrm>
        </p:grpSpPr>
        <p:sp>
          <p:nvSpPr>
            <p:cNvPr id="40" name="모서리가 둥근 직사각형 39"/>
            <p:cNvSpPr/>
            <p:nvPr/>
          </p:nvSpPr>
          <p:spPr>
            <a:xfrm>
              <a:off x="1064029" y="1350816"/>
              <a:ext cx="3660136" cy="241554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38562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1347830" y="1147154"/>
              <a:ext cx="946484" cy="407324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325105" y="1147154"/>
              <a:ext cx="991939" cy="4124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rgbClr val="385624"/>
                  </a:solidFill>
                </a:rPr>
                <a:t>UNITY</a:t>
              </a:r>
              <a:endParaRPr lang="ko-KR" altLang="en-US" b="1" dirty="0">
                <a:solidFill>
                  <a:srgbClr val="385624"/>
                </a:solidFill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4475669" y="3667401"/>
            <a:ext cx="3280453" cy="2345600"/>
            <a:chOff x="1064029" y="1147154"/>
            <a:chExt cx="3663104" cy="2619205"/>
          </a:xfrm>
        </p:grpSpPr>
        <p:sp>
          <p:nvSpPr>
            <p:cNvPr id="44" name="모서리가 둥근 직사각형 43"/>
            <p:cNvSpPr/>
            <p:nvPr/>
          </p:nvSpPr>
          <p:spPr>
            <a:xfrm>
              <a:off x="1064029" y="1350817"/>
              <a:ext cx="3663104" cy="241554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38562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모서리가 둥근 직사각형 44"/>
            <p:cNvSpPr/>
            <p:nvPr/>
          </p:nvSpPr>
          <p:spPr>
            <a:xfrm>
              <a:off x="1347830" y="1147154"/>
              <a:ext cx="946484" cy="407324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473635" y="1147154"/>
              <a:ext cx="694873" cy="4124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rgbClr val="385624"/>
                  </a:solidFill>
                </a:rPr>
                <a:t>FILE</a:t>
              </a:r>
              <a:endParaRPr lang="ko-KR" altLang="en-US" b="1" dirty="0">
                <a:solidFill>
                  <a:srgbClr val="385624"/>
                </a:solidFill>
              </a:endParaRPr>
            </a:p>
          </p:txBody>
        </p:sp>
      </p:grpSp>
      <p:grpSp>
        <p:nvGrpSpPr>
          <p:cNvPr id="31" name="그룹 30"/>
          <p:cNvGrpSpPr/>
          <p:nvPr/>
        </p:nvGrpSpPr>
        <p:grpSpPr>
          <a:xfrm>
            <a:off x="4475669" y="1301424"/>
            <a:ext cx="3280453" cy="2183590"/>
            <a:chOff x="1064030" y="1147154"/>
            <a:chExt cx="3663104" cy="2438297"/>
          </a:xfrm>
        </p:grpSpPr>
        <p:sp>
          <p:nvSpPr>
            <p:cNvPr id="32" name="모서리가 둥근 직사각형 31"/>
            <p:cNvSpPr/>
            <p:nvPr/>
          </p:nvSpPr>
          <p:spPr>
            <a:xfrm>
              <a:off x="1064030" y="1350816"/>
              <a:ext cx="3663104" cy="2234635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38562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모서리가 둥근 직사각형 32"/>
            <p:cNvSpPr/>
            <p:nvPr/>
          </p:nvSpPr>
          <p:spPr>
            <a:xfrm>
              <a:off x="1347830" y="1147154"/>
              <a:ext cx="946484" cy="407324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381738" y="1147154"/>
              <a:ext cx="878670" cy="4124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rgbClr val="385624"/>
                  </a:solidFill>
                </a:rPr>
                <a:t>BACK</a:t>
              </a:r>
              <a:endParaRPr lang="ko-KR" altLang="en-US" b="1" dirty="0">
                <a:solidFill>
                  <a:srgbClr val="385624"/>
                </a:solidFill>
              </a:endParaRPr>
            </a:p>
          </p:txBody>
        </p:sp>
      </p:grpSp>
      <p:grpSp>
        <p:nvGrpSpPr>
          <p:cNvPr id="56" name="그룹 55"/>
          <p:cNvGrpSpPr/>
          <p:nvPr/>
        </p:nvGrpSpPr>
        <p:grpSpPr>
          <a:xfrm>
            <a:off x="7957510" y="1301424"/>
            <a:ext cx="3280453" cy="2183590"/>
            <a:chOff x="1064030" y="1147154"/>
            <a:chExt cx="3663104" cy="2438297"/>
          </a:xfrm>
        </p:grpSpPr>
        <p:sp>
          <p:nvSpPr>
            <p:cNvPr id="57" name="모서리가 둥근 직사각형 56"/>
            <p:cNvSpPr/>
            <p:nvPr/>
          </p:nvSpPr>
          <p:spPr>
            <a:xfrm>
              <a:off x="1064030" y="1350816"/>
              <a:ext cx="3663104" cy="2234635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38562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모서리가 둥근 직사각형 57"/>
            <p:cNvSpPr/>
            <p:nvPr/>
          </p:nvSpPr>
          <p:spPr>
            <a:xfrm>
              <a:off x="1347830" y="1147154"/>
              <a:ext cx="946484" cy="407324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539865" y="1147154"/>
              <a:ext cx="562414" cy="4124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 smtClean="0">
                  <a:solidFill>
                    <a:srgbClr val="385624"/>
                  </a:solidFill>
                </a:rPr>
                <a:t>DB</a:t>
              </a:r>
              <a:endParaRPr lang="ko-KR" altLang="en-US" b="1" dirty="0">
                <a:solidFill>
                  <a:srgbClr val="385624"/>
                </a:solidFill>
              </a:endParaRP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7957510" y="3667401"/>
            <a:ext cx="3280453" cy="2345600"/>
            <a:chOff x="1064029" y="1147154"/>
            <a:chExt cx="3663104" cy="2619205"/>
          </a:xfrm>
        </p:grpSpPr>
        <p:sp>
          <p:nvSpPr>
            <p:cNvPr id="61" name="모서리가 둥근 직사각형 60"/>
            <p:cNvSpPr/>
            <p:nvPr/>
          </p:nvSpPr>
          <p:spPr>
            <a:xfrm>
              <a:off x="1064029" y="1350817"/>
              <a:ext cx="3663104" cy="2415542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38562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모서리가 둥근 직사각형 61"/>
            <p:cNvSpPr/>
            <p:nvPr/>
          </p:nvSpPr>
          <p:spPr>
            <a:xfrm>
              <a:off x="1269626" y="1147154"/>
              <a:ext cx="1170064" cy="407323"/>
            </a:xfrm>
            <a:prstGeom prst="round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236037" y="1188142"/>
              <a:ext cx="1237240" cy="4124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 err="1" smtClean="0">
                  <a:solidFill>
                    <a:srgbClr val="385624"/>
                  </a:solidFill>
                </a:rPr>
                <a:t>협업도구</a:t>
              </a:r>
              <a:endParaRPr lang="ko-KR" altLang="en-US" b="1" dirty="0">
                <a:solidFill>
                  <a:srgbClr val="385624"/>
                </a:solidFill>
              </a:endParaRPr>
            </a:p>
          </p:txBody>
        </p:sp>
      </p:grpSp>
      <p:pic>
        <p:nvPicPr>
          <p:cNvPr id="64" name="그림 6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167" y="1748716"/>
            <a:ext cx="2117773" cy="802107"/>
          </a:xfrm>
          <a:prstGeom prst="rect">
            <a:avLst/>
          </a:prstGeom>
        </p:spPr>
      </p:pic>
      <p:pic>
        <p:nvPicPr>
          <p:cNvPr id="65" name="그림 6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140" y="2762468"/>
            <a:ext cx="1983315" cy="402070"/>
          </a:xfrm>
          <a:prstGeom prst="rect">
            <a:avLst/>
          </a:prstGeom>
        </p:spPr>
      </p:pic>
      <p:pic>
        <p:nvPicPr>
          <p:cNvPr id="66" name="그림 6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024" y="4221088"/>
            <a:ext cx="1368653" cy="504120"/>
          </a:xfrm>
          <a:prstGeom prst="rect">
            <a:avLst/>
          </a:prstGeom>
        </p:spPr>
      </p:pic>
      <p:pic>
        <p:nvPicPr>
          <p:cNvPr id="67" name="그림 6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11" b="16339"/>
          <a:stretch/>
        </p:blipFill>
        <p:spPr>
          <a:xfrm>
            <a:off x="8141630" y="4173127"/>
            <a:ext cx="1376917" cy="530173"/>
          </a:xfrm>
          <a:prstGeom prst="rect">
            <a:avLst/>
          </a:prstGeom>
        </p:spPr>
      </p:pic>
      <p:pic>
        <p:nvPicPr>
          <p:cNvPr id="68" name="그림 6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513" y="1890955"/>
            <a:ext cx="601111" cy="601111"/>
          </a:xfrm>
          <a:prstGeom prst="rect">
            <a:avLst/>
          </a:prstGeom>
        </p:spPr>
      </p:pic>
      <p:pic>
        <p:nvPicPr>
          <p:cNvPr id="69" name="그림 6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1" t="13989" r="14945" b="22038"/>
          <a:stretch/>
        </p:blipFill>
        <p:spPr>
          <a:xfrm>
            <a:off x="9393242" y="1748716"/>
            <a:ext cx="1316411" cy="721903"/>
          </a:xfrm>
          <a:prstGeom prst="rect">
            <a:avLst/>
          </a:prstGeom>
        </p:spPr>
      </p:pic>
      <p:pic>
        <p:nvPicPr>
          <p:cNvPr id="70" name="그림 6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198" y="1756027"/>
            <a:ext cx="930874" cy="736039"/>
          </a:xfrm>
          <a:prstGeom prst="rect">
            <a:avLst/>
          </a:prstGeom>
        </p:spPr>
      </p:pic>
      <p:pic>
        <p:nvPicPr>
          <p:cNvPr id="71" name="그림 70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917" y="1872066"/>
            <a:ext cx="999731" cy="555406"/>
          </a:xfrm>
          <a:prstGeom prst="rect">
            <a:avLst/>
          </a:prstGeom>
        </p:spPr>
      </p:pic>
      <p:pic>
        <p:nvPicPr>
          <p:cNvPr id="72" name="그림 71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73" b="29348"/>
          <a:stretch/>
        </p:blipFill>
        <p:spPr>
          <a:xfrm>
            <a:off x="4616198" y="2735276"/>
            <a:ext cx="1459221" cy="40059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70" b="42250"/>
          <a:stretch/>
        </p:blipFill>
        <p:spPr>
          <a:xfrm>
            <a:off x="4780363" y="4157593"/>
            <a:ext cx="1824981" cy="47871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007" y="3993770"/>
            <a:ext cx="806359" cy="80635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948" y="2617076"/>
            <a:ext cx="1433239" cy="52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0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/>
          <p:cNvGrpSpPr/>
          <p:nvPr/>
        </p:nvGrpSpPr>
        <p:grpSpPr>
          <a:xfrm>
            <a:off x="658484" y="-417077"/>
            <a:ext cx="2787360" cy="2322103"/>
            <a:chOff x="648960" y="-495867"/>
            <a:chExt cx="3156983" cy="2630029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3156983" cy="2630029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1028773" y="609993"/>
              <a:ext cx="2485881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수행 절차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19"/>
          <a:stretch/>
        </p:blipFill>
        <p:spPr>
          <a:xfrm>
            <a:off x="1453415" y="1635879"/>
            <a:ext cx="9654139" cy="4229185"/>
          </a:xfrm>
          <a:prstGeom prst="rect">
            <a:avLst/>
          </a:prstGeom>
          <a:ln>
            <a:solidFill>
              <a:srgbClr val="598739"/>
            </a:solidFill>
          </a:ln>
        </p:spPr>
      </p:pic>
    </p:spTree>
    <p:extLst>
      <p:ext uri="{BB962C8B-B14F-4D97-AF65-F5344CB8AC3E}">
        <p14:creationId xmlns:p14="http://schemas.microsoft.com/office/powerpoint/2010/main" val="326309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/>
          <p:cNvGrpSpPr/>
          <p:nvPr/>
        </p:nvGrpSpPr>
        <p:grpSpPr>
          <a:xfrm>
            <a:off x="658484" y="-417077"/>
            <a:ext cx="2787360" cy="2322103"/>
            <a:chOff x="648960" y="-495867"/>
            <a:chExt cx="3156983" cy="2630029"/>
          </a:xfrm>
        </p:grpSpPr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3156983" cy="2630029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1028773" y="609993"/>
              <a:ext cx="2485881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수행 절차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659" y="1282668"/>
            <a:ext cx="5698921" cy="5151890"/>
          </a:xfrm>
          <a:prstGeom prst="rect">
            <a:avLst/>
          </a:prstGeom>
          <a:ln>
            <a:solidFill>
              <a:srgbClr val="598739"/>
            </a:solidFill>
          </a:ln>
        </p:spPr>
      </p:pic>
    </p:spTree>
    <p:extLst>
      <p:ext uri="{BB962C8B-B14F-4D97-AF65-F5344CB8AC3E}">
        <p14:creationId xmlns:p14="http://schemas.microsoft.com/office/powerpoint/2010/main" val="367981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658482" y="-417077"/>
            <a:ext cx="2941365" cy="2322103"/>
            <a:chOff x="648958" y="-495867"/>
            <a:chExt cx="3331409" cy="2630029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58" y="-495867"/>
              <a:ext cx="3331409" cy="2630029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028773" y="609993"/>
              <a:ext cx="2654729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프로젝트 다이어그램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305961"/>
            <a:ext cx="8835992" cy="4966008"/>
          </a:xfrm>
          <a:prstGeom prst="rect">
            <a:avLst/>
          </a:prstGeom>
          <a:ln>
            <a:solidFill>
              <a:srgbClr val="385624"/>
            </a:solidFill>
          </a:ln>
        </p:spPr>
      </p:pic>
    </p:spTree>
    <p:extLst>
      <p:ext uri="{BB962C8B-B14F-4D97-AF65-F5344CB8AC3E}">
        <p14:creationId xmlns:p14="http://schemas.microsoft.com/office/powerpoint/2010/main" val="3265107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658482" y="-417077"/>
            <a:ext cx="2700735" cy="2322103"/>
            <a:chOff x="648958" y="-495867"/>
            <a:chExt cx="3058871" cy="2630029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58" y="-495867"/>
              <a:ext cx="3058871" cy="2630029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028773" y="609993"/>
              <a:ext cx="2393287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사용자 스토리보드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872" y="2130639"/>
            <a:ext cx="10058400" cy="2924931"/>
          </a:xfrm>
          <a:prstGeom prst="rect">
            <a:avLst/>
          </a:prstGeom>
          <a:ln>
            <a:solidFill>
              <a:srgbClr val="385624"/>
            </a:solidFill>
          </a:ln>
        </p:spPr>
      </p:pic>
    </p:spTree>
    <p:extLst>
      <p:ext uri="{BB962C8B-B14F-4D97-AF65-F5344CB8AC3E}">
        <p14:creationId xmlns:p14="http://schemas.microsoft.com/office/powerpoint/2010/main" val="332925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907" y="1496745"/>
            <a:ext cx="10058400" cy="4172883"/>
          </a:xfrm>
          <a:prstGeom prst="rect">
            <a:avLst/>
          </a:prstGeom>
          <a:ln>
            <a:solidFill>
              <a:srgbClr val="385624"/>
            </a:solidFill>
          </a:ln>
        </p:spPr>
      </p:pic>
      <p:grpSp>
        <p:nvGrpSpPr>
          <p:cNvPr id="7" name="그룹 6"/>
          <p:cNvGrpSpPr/>
          <p:nvPr/>
        </p:nvGrpSpPr>
        <p:grpSpPr>
          <a:xfrm>
            <a:off x="658482" y="-417077"/>
            <a:ext cx="2700735" cy="2322103"/>
            <a:chOff x="648958" y="-495867"/>
            <a:chExt cx="3058871" cy="2630029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58" y="-495867"/>
              <a:ext cx="3058871" cy="2630029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1028773" y="609993"/>
              <a:ext cx="2393288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관리자 스토리보드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724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4061861" y="1876925"/>
            <a:ext cx="4032986" cy="2322103"/>
            <a:chOff x="611763" y="-495867"/>
            <a:chExt cx="4567787" cy="2630029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763" y="-495867"/>
              <a:ext cx="4567787" cy="2630029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028773" y="609993"/>
              <a:ext cx="3862085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프로그램 시연 시작하겠습니다</a:t>
              </a:r>
              <a:r>
                <a:rPr lang="en-US" altLang="ko-KR" b="1" dirty="0" smtClean="0">
                  <a:solidFill>
                    <a:schemeClr val="bg1"/>
                  </a:solidFill>
                </a:rPr>
                <a:t>.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04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/>
          <p:cNvGrpSpPr/>
          <p:nvPr/>
        </p:nvGrpSpPr>
        <p:grpSpPr>
          <a:xfrm>
            <a:off x="658484" y="-417077"/>
            <a:ext cx="2322103" cy="2322103"/>
            <a:chOff x="648960" y="-495867"/>
            <a:chExt cx="2630029" cy="2630029"/>
          </a:xfrm>
        </p:grpSpPr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960" y="-495867"/>
              <a:ext cx="2630029" cy="2630029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1028773" y="609993"/>
              <a:ext cx="1962996" cy="4183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</a:rPr>
                <a:t>자체 평가 의견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8108638" y="1380503"/>
            <a:ext cx="1783043" cy="369332"/>
            <a:chOff x="3241096" y="3511109"/>
            <a:chExt cx="1783043" cy="369332"/>
          </a:xfrm>
        </p:grpSpPr>
        <p:sp>
          <p:nvSpPr>
            <p:cNvPr id="41" name="TextBox 40"/>
            <p:cNvSpPr txBox="1"/>
            <p:nvPr/>
          </p:nvSpPr>
          <p:spPr>
            <a:xfrm>
              <a:off x="3290972" y="3511109"/>
              <a:ext cx="17331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2C431D"/>
                  </a:solidFill>
                </a:rPr>
                <a:t>추후 개선할 점</a:t>
              </a:r>
              <a:endParaRPr lang="ko-KR" altLang="en-US" b="1" dirty="0">
                <a:solidFill>
                  <a:srgbClr val="2C431D"/>
                </a:solidFill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241096" y="3575240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2678856" y="1385568"/>
            <a:ext cx="1239625" cy="369332"/>
            <a:chOff x="3241096" y="3511109"/>
            <a:chExt cx="1239625" cy="369332"/>
          </a:xfrm>
        </p:grpSpPr>
        <p:sp>
          <p:nvSpPr>
            <p:cNvPr id="47" name="TextBox 46"/>
            <p:cNvSpPr txBox="1"/>
            <p:nvPr/>
          </p:nvSpPr>
          <p:spPr>
            <a:xfrm>
              <a:off x="3290972" y="3511109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rgbClr val="2C431D"/>
                  </a:solidFill>
                </a:rPr>
                <a:t>아쉬운 점</a:t>
              </a:r>
              <a:endParaRPr lang="ko-KR" altLang="en-US" b="1" dirty="0">
                <a:solidFill>
                  <a:srgbClr val="2C431D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241096" y="3575240"/>
              <a:ext cx="49876" cy="241069"/>
            </a:xfrm>
            <a:prstGeom prst="rect">
              <a:avLst/>
            </a:prstGeom>
            <a:solidFill>
              <a:srgbClr val="68A141"/>
            </a:solidFill>
            <a:ln w="19050">
              <a:solidFill>
                <a:srgbClr val="5987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860411" y="2087531"/>
            <a:ext cx="2536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/>
              <a:t>보안 기술 적용의 부족</a:t>
            </a:r>
            <a:endParaRPr lang="ko-KR" altLang="en-US" sz="1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137661" y="2456558"/>
            <a:ext cx="3219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Spring Security </a:t>
            </a:r>
            <a:r>
              <a:rPr lang="ko-KR" altLang="en-US" sz="1400" dirty="0" smtClean="0"/>
              <a:t>전문적 활용이 부족함</a:t>
            </a:r>
            <a:endParaRPr lang="ko-KR" altLang="en-US" sz="1400" dirty="0"/>
          </a:p>
        </p:txBody>
      </p:sp>
      <p:cxnSp>
        <p:nvCxnSpPr>
          <p:cNvPr id="6" name="직선 연결선 5"/>
          <p:cNvCxnSpPr/>
          <p:nvPr/>
        </p:nvCxnSpPr>
        <p:spPr>
          <a:xfrm>
            <a:off x="6096000" y="1434164"/>
            <a:ext cx="0" cy="4799334"/>
          </a:xfrm>
          <a:prstGeom prst="line">
            <a:avLst/>
          </a:prstGeom>
          <a:ln w="28575">
            <a:solidFill>
              <a:srgbClr val="30491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860411" y="3068060"/>
            <a:ext cx="2669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err="1" smtClean="0"/>
              <a:t>프론트엔드</a:t>
            </a:r>
            <a:r>
              <a:rPr lang="ko-KR" altLang="en-US" sz="1600" b="1" dirty="0" smtClean="0"/>
              <a:t> 구조의 한계</a:t>
            </a:r>
            <a:endParaRPr lang="ko-KR" altLang="en-US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2137661" y="3437087"/>
            <a:ext cx="307808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/>
              <a:t>HTML/CSS/JS </a:t>
            </a:r>
            <a:r>
              <a:rPr lang="ko-KR" altLang="en-US" sz="1400" dirty="0" smtClean="0"/>
              <a:t>구조로 개발하다 보니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ko-KR" altLang="en-US" sz="1400" dirty="0" smtClean="0"/>
              <a:t>컴포넌트 관리가 어렵고 유지보수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ko-KR" altLang="en-US" sz="1400" dirty="0" smtClean="0"/>
              <a:t>비용이 높아짐</a:t>
            </a:r>
            <a:endParaRPr lang="ko-KR" alt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1860411" y="4802642"/>
            <a:ext cx="3296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/>
              <a:t>파일 관리 및 미디어 처리 한계</a:t>
            </a:r>
            <a:endParaRPr lang="ko-KR" altLang="en-US" sz="16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2137661" y="5171669"/>
            <a:ext cx="3010761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강의 자료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이미지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수료증 파일을</a:t>
            </a:r>
            <a:endParaRPr lang="en-US" altLang="ko-KR" sz="1400" dirty="0" smtClean="0"/>
          </a:p>
          <a:p>
            <a:pPr>
              <a:lnSpc>
                <a:spcPct val="150000"/>
              </a:lnSpc>
            </a:pPr>
            <a:r>
              <a:rPr lang="ko-KR" altLang="en-US" sz="1400" dirty="0" smtClean="0"/>
              <a:t>서버에 직접 업로드 하니 저장 공간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ko-KR" altLang="en-US" sz="1400" dirty="0" smtClean="0"/>
              <a:t>관리 문제 및 안정성 부족</a:t>
            </a:r>
            <a:endParaRPr lang="ko-KR" altLang="en-US" sz="1400" dirty="0"/>
          </a:p>
        </p:txBody>
      </p:sp>
      <p:sp>
        <p:nvSpPr>
          <p:cNvPr id="44" name="TextBox 43"/>
          <p:cNvSpPr txBox="1"/>
          <p:nvPr/>
        </p:nvSpPr>
        <p:spPr>
          <a:xfrm>
            <a:off x="7194155" y="2086423"/>
            <a:ext cx="23310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/>
              <a:t>보안 기술 강화 예정</a:t>
            </a:r>
            <a:endParaRPr lang="ko-KR" altLang="en-US" sz="1600" b="1" dirty="0"/>
          </a:p>
        </p:txBody>
      </p:sp>
      <p:sp>
        <p:nvSpPr>
          <p:cNvPr id="54" name="TextBox 53"/>
          <p:cNvSpPr txBox="1"/>
          <p:nvPr/>
        </p:nvSpPr>
        <p:spPr>
          <a:xfrm>
            <a:off x="7471405" y="2455450"/>
            <a:ext cx="3369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향후 민감 정보를 다룰 가능성을 고려해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ko-KR" altLang="en-US" sz="1400" dirty="0" smtClean="0"/>
              <a:t>보안 강화 기능 추가</a:t>
            </a:r>
            <a:endParaRPr lang="ko-KR" alt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7194155" y="3068060"/>
            <a:ext cx="34291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/>
              <a:t>사용자 맞춤형 학습 추천 시스템</a:t>
            </a:r>
            <a:endParaRPr lang="ko-KR" altLang="en-US" sz="16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7471405" y="3437087"/>
            <a:ext cx="344998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학습자의 </a:t>
            </a:r>
            <a:r>
              <a:rPr lang="ko-KR" altLang="en-US" sz="1400" dirty="0" err="1" smtClean="0"/>
              <a:t>진도율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배지 획득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오답 패턴을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ko-KR" altLang="en-US" sz="1400" dirty="0" smtClean="0"/>
              <a:t>분석해 개인별 맞춤 강의 추천 기능 추가</a:t>
            </a:r>
            <a:endParaRPr lang="ko-KR" altLang="en-US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7194155" y="4251718"/>
            <a:ext cx="29466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 smtClean="0"/>
              <a:t>학습자 상호작용 기능 확장</a:t>
            </a:r>
            <a:endParaRPr lang="ko-KR" altLang="en-US" sz="1600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7471405" y="4620745"/>
            <a:ext cx="287129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실시간 채팅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질문 답변 기능 추가</a:t>
            </a:r>
            <a:endParaRPr lang="ko-KR" alt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7194155" y="5171669"/>
            <a:ext cx="1545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 smtClean="0"/>
              <a:t>UI/UX </a:t>
            </a:r>
            <a:r>
              <a:rPr lang="ko-KR" altLang="en-US" sz="1600" b="1" dirty="0" smtClean="0"/>
              <a:t>개선</a:t>
            </a:r>
            <a:endParaRPr lang="ko-KR" altLang="en-US" sz="16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7471405" y="5540696"/>
            <a:ext cx="31229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고정형 </a:t>
            </a:r>
            <a:r>
              <a:rPr lang="en-US" altLang="ko-KR" sz="1400" dirty="0" smtClean="0"/>
              <a:t>UI</a:t>
            </a:r>
            <a:r>
              <a:rPr lang="ko-KR" altLang="en-US" sz="1400" dirty="0" smtClean="0"/>
              <a:t>를 </a:t>
            </a:r>
            <a:r>
              <a:rPr lang="ko-KR" altLang="en-US" sz="1400" dirty="0" err="1" smtClean="0"/>
              <a:t>반응형</a:t>
            </a:r>
            <a:r>
              <a:rPr lang="ko-KR" altLang="en-US" sz="1400" dirty="0" smtClean="0"/>
              <a:t> 구조로 개선하여</a:t>
            </a:r>
            <a:endParaRPr lang="en-US" altLang="ko-KR" sz="1400" dirty="0" smtClean="0"/>
          </a:p>
          <a:p>
            <a:pPr>
              <a:lnSpc>
                <a:spcPct val="150000"/>
              </a:lnSpc>
            </a:pPr>
            <a:r>
              <a:rPr lang="ko-KR" altLang="en-US" sz="1400" dirty="0" smtClean="0"/>
              <a:t>다양한 기기에서의 </a:t>
            </a:r>
            <a:r>
              <a:rPr lang="ko-KR" altLang="en-US" sz="1400" dirty="0" smtClean="0"/>
              <a:t>사용성 향상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0282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4061861" y="1857676"/>
            <a:ext cx="4032986" cy="2370228"/>
            <a:chOff x="611763" y="-550373"/>
            <a:chExt cx="4567787" cy="2684536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763" y="-550373"/>
              <a:ext cx="4567787" cy="2684536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311388" y="425875"/>
              <a:ext cx="3168536" cy="7320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b="1" dirty="0" smtClean="0">
                  <a:solidFill>
                    <a:schemeClr val="bg1"/>
                  </a:solidFill>
                </a:rPr>
                <a:t>지금까지 </a:t>
              </a:r>
              <a:r>
                <a:rPr lang="en-US" altLang="ko-KR" b="1" dirty="0" smtClean="0">
                  <a:solidFill>
                    <a:schemeClr val="bg1"/>
                  </a:solidFill>
                </a:rPr>
                <a:t>A</a:t>
              </a:r>
              <a:r>
                <a:rPr lang="ko-KR" altLang="en-US" b="1" dirty="0" smtClean="0">
                  <a:solidFill>
                    <a:schemeClr val="bg1"/>
                  </a:solidFill>
                </a:rPr>
                <a:t>팀이었습니다</a:t>
              </a:r>
              <a:r>
                <a:rPr lang="en-US" altLang="ko-KR" b="1" dirty="0" smtClean="0">
                  <a:solidFill>
                    <a:schemeClr val="bg1"/>
                  </a:solidFill>
                </a:rPr>
                <a:t>.</a:t>
              </a:r>
              <a:br>
                <a:rPr lang="en-US" altLang="ko-KR" b="1" dirty="0" smtClean="0">
                  <a:solidFill>
                    <a:schemeClr val="bg1"/>
                  </a:solidFill>
                </a:rPr>
              </a:br>
              <a:r>
                <a:rPr lang="ko-KR" altLang="en-US" b="1" dirty="0" smtClean="0">
                  <a:solidFill>
                    <a:schemeClr val="bg1"/>
                  </a:solidFill>
                </a:rPr>
                <a:t>감사합니다</a:t>
              </a:r>
              <a:r>
                <a:rPr lang="en-US" altLang="ko-KR" b="1" dirty="0" smtClean="0">
                  <a:solidFill>
                    <a:schemeClr val="bg1"/>
                  </a:solidFill>
                </a:rPr>
                <a:t>.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581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260</Words>
  <Application>Microsoft Office PowerPoint</Application>
  <PresentationFormat>와이드스크린</PresentationFormat>
  <Paragraphs>81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dw-019</dc:creator>
  <cp:lastModifiedBy>dw-019</cp:lastModifiedBy>
  <cp:revision>37</cp:revision>
  <dcterms:created xsi:type="dcterms:W3CDTF">2025-11-24T00:19:49Z</dcterms:created>
  <dcterms:modified xsi:type="dcterms:W3CDTF">2025-11-26T00:01:56Z</dcterms:modified>
</cp:coreProperties>
</file>